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AI 서비스 개발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왓챠피디아 코멘트 기반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영화 여론 분석 AI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rFonts a:eastAsia="Malgun Gothic" a:latin="Malgun Gothic"/>
                <a:solidFill>
                  <a:srgbClr val="C9D2E0"/>
                </a:solidFill>
                <a:latin typeface="Malgun Gothic"/>
              </a:rPr>
              <a:t>단어 빈도 분석  ·  감성 분석(LSTM)  ·  영화 추천(TF-IDF)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인공지능서비스개발   |   [팀명 / 발표자]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프로젝트 개요 &amp; 니즈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1704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왜 만들었나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669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영화 리뷰는 넘쳐나지만 흩어져 있다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한 영화에 수천~수만 개의 코멘트 → 사람이 다 읽고 여론을 파악하기 어렵다.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5669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→ 코멘트를 </a:t>
            </a:r>
            <a:r>
              <a:rPr sz="15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자동으로 분석·시각화</a:t>
            </a:r>
            <a:r>
              <a:rPr sz="15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하여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   ① 무슨 단어가 많은지  ② 호불호(감성)  ③ 비슷한 영화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   를 한눈에 보여주는 웹 대시보드를 만든다.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783080"/>
            <a:ext cx="4663440" cy="11887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79" y="1947672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150만+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947672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수집한 코멘트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3154680"/>
            <a:ext cx="4663440" cy="11887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79" y="3319272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309편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3319272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영화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526280"/>
            <a:ext cx="4663440" cy="11887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4690872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1957–2025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4690872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개봉연도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58521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데이터 출처: 왓챠피디아 직접 크롤링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서비스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1704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데이터 → 분석 모듈 → 웹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2468880" cy="1005840"/>
          </a:xfrm>
          <a:prstGeom prst="roundRect">
            <a:avLst/>
          </a:prstGeom>
          <a:solidFill>
            <a:srgbClr val="1B2333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왓챠 크롤링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rFonts a:eastAsia="Malgun Gothic" a:latin="Malgun Gothic"/>
                <a:solidFill>
                  <a:srgbClr val="C9D2E0"/>
                </a:solidFill>
                <a:latin typeface="Malgun Gothic"/>
              </a:rPr>
              <a:t>(코멘트 150만)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4408" y="1874519"/>
            <a:ext cx="411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783080"/>
            <a:ext cx="2468880" cy="100584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874519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전처리·형태소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(Okt 토큰화)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1874519"/>
            <a:ext cx="411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83080"/>
            <a:ext cx="2468880" cy="100584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74519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분석 모듈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(mylib 패키지)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1874519"/>
            <a:ext cx="411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1783080"/>
            <a:ext cx="2468880" cy="1005840"/>
          </a:xfrm>
          <a:prstGeom prst="roundRect">
            <a:avLst/>
          </a:prstGeom>
          <a:solidFill>
            <a:srgbClr val="1B2333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1874519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Streamlit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rFonts a:eastAsia="Malgun Gothic" a:latin="Malgun Gothic"/>
                <a:solidFill>
                  <a:srgbClr val="C9D2E0"/>
                </a:solidFill>
                <a:latin typeface="Malgun Gothic"/>
              </a:rPr>
              <a:t>대시보드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37560"/>
            <a:ext cx="3611880" cy="24688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538728"/>
            <a:ext cx="309981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📊  단어 빈도 분석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코멘트에서 명사 추출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워드클라우드 · 막대그래프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영화/연도/전체 단위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3337560"/>
            <a:ext cx="3611880" cy="24688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3538728"/>
            <a:ext cx="309981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rFonts a:eastAsia="Malgun Gothic" a:latin="Malgun Gothic"/>
                <a:solidFill>
                  <a:srgbClr val="2ECC71"/>
                </a:solidFill>
                <a:latin typeface="Malgun Gothic"/>
              </a:rPr>
              <a:t>😊  감성 분석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긍정/부정 자동 분류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LSTM 딥러닝 모델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긍·부정 단어 따로 시각화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3337560"/>
            <a:ext cx="3611880" cy="246888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5672" y="3538728"/>
            <a:ext cx="309981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rFonts a:eastAsia="Malgun Gothic" a:latin="Malgun Gothic"/>
                <a:solidFill>
                  <a:srgbClr val="3B82F6"/>
                </a:solidFill>
                <a:latin typeface="Malgun Gothic"/>
              </a:rPr>
              <a:t>🎬  영화 추천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코멘트 유사도 기반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TF-IDF + 코사인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비슷한 영화 Top 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어디에 머신러닝·딥러닝을 적용했나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972800" cy="105156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18872" cy="1051560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47672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딥러닝 (DL)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감성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47672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순환신경망 LSTM — Embedding → LSTM(64) → Dense → Softmax. 코멘트를 긍정/부정으로 분류.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17520"/>
            <a:ext cx="10972800" cy="105156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017520"/>
            <a:ext cx="118872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82112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rFonts a:eastAsia="Malgun Gothic" a:latin="Malgun Gothic"/>
                <a:solidFill>
                  <a:srgbClr val="3B82F6"/>
                </a:solidFill>
                <a:latin typeface="Malgun Gothic"/>
              </a:rPr>
              <a:t>머신러닝 (ML)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영화 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82112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TF-IDF로 영화별 코멘트를 벡터화하고 코사인 유사도로 비슷한 영화를 계산.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51960"/>
            <a:ext cx="10972800" cy="105156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251960"/>
            <a:ext cx="118872" cy="105156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416552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rFonts a:eastAsia="Malgun Gothic" a:latin="Malgun Gothic"/>
                <a:solidFill>
                  <a:srgbClr val="2ECC71"/>
                </a:solidFill>
                <a:latin typeface="Malgun Gothic"/>
              </a:rPr>
              <a:t>자연어처리 (NLP)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형태소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16552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KoNLPy Okt로 한국어를 형태소 단위로 토큰화 · 명사 추출 (모든 기능의 기반).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69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※ 단어 빈도 분석은 통계 기반 (빈도 집계)으로, 별도 학습 없이 동작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데이터 준비 &amp;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606040" cy="137160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606040" cy="457200"/>
          </a:xfrm>
          <a:prstGeom prst="roundRect">
            <a:avLst/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606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크롤링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왓챠 API로 코멘트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150만 건 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3200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828800"/>
            <a:ext cx="2606040" cy="137160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1828800"/>
            <a:ext cx="2606040" cy="457200"/>
          </a:xfrm>
          <a:prstGeom prst="roundRect">
            <a:avLst/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874519"/>
            <a:ext cx="2606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전처리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37744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중복·결측 제거,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정규화·정제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28800"/>
            <a:ext cx="3200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828800"/>
            <a:ext cx="2606040" cy="137160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1828800"/>
            <a:ext cx="2606040" cy="457200"/>
          </a:xfrm>
          <a:prstGeom prst="roundRect">
            <a:avLst/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874519"/>
            <a:ext cx="2606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자동 라벨링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37744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별점이 없어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감성사전으로 라벨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828800"/>
            <a:ext cx="3200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1828800"/>
            <a:ext cx="2606040" cy="137160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55480" y="1828800"/>
            <a:ext cx="2606040" cy="457200"/>
          </a:xfrm>
          <a:prstGeom prst="roundRect">
            <a:avLst/>
          </a:prstGeom>
          <a:solidFill>
            <a:srgbClr val="1B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1874519"/>
            <a:ext cx="2606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학습 데이터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37744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긍·부정 균형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약 12.8만 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794760"/>
            <a:ext cx="10972800" cy="1737360"/>
          </a:xfrm>
          <a:prstGeom prst="roundRect">
            <a:avLst/>
          </a:prstGeom>
          <a:solidFill>
            <a:srgbClr val="FF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0233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핵심 아이디어 — 별점이 없는데 어떻게 정답(라벨)을 만드나?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왓챠 코멘트에는 별점이 저장돼 있지 않다. 그래서 </a:t>
            </a:r>
            <a:r>
              <a:rPr sz="14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KNU 한국어 감성사전</a:t>
            </a:r>
            <a:r>
              <a:rPr sz="14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으로 코멘트의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긍정/부정을 자동 판정해 학습용 라벨을 생성했다. (네이버 NSMC가 별점으로 라벨을 만든 것과 같은 발상)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문제 해결 과정 ① — 감성 라벨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1704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자동 라벨링의 오류를 단계적으로 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349240" cy="84124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rFonts a:eastAsia="Malgun Gothic" a:latin="Malgun Gothic"/>
                <a:solidFill>
                  <a:srgbClr val="E74C3C"/>
                </a:solidFill>
                <a:latin typeface="Malgun Gothic"/>
              </a:rPr>
              <a:t>문제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정답(별점)이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828800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28800"/>
            <a:ext cx="5074920" cy="841248"/>
          </a:xfrm>
          <a:prstGeom prst="roundRect">
            <a:avLst/>
          </a:prstGeom>
          <a:solidFill>
            <a:srgbClr val="EA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94767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rFonts a:eastAsia="Malgun Gothic" a:latin="Malgun Gothic"/>
                <a:solidFill>
                  <a:srgbClr val="2ECC71"/>
                </a:solidFill>
                <a:latin typeface="Malgun Gothic"/>
              </a:rPr>
              <a:t>해결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KNU 감성사전으로 긍·부정 자동 라벨링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16352"/>
            <a:ext cx="5349240" cy="84124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35224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rFonts a:eastAsia="Malgun Gothic" a:latin="Malgun Gothic"/>
                <a:solidFill>
                  <a:srgbClr val="E74C3C"/>
                </a:solidFill>
                <a:latin typeface="Malgun Gothic"/>
              </a:rPr>
              <a:t>문제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조사 '이/가'를 긍정 단어로 오인 → 편향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816352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816352"/>
            <a:ext cx="5074920" cy="841248"/>
          </a:xfrm>
          <a:prstGeom prst="roundRect">
            <a:avLst/>
          </a:prstGeom>
          <a:solidFill>
            <a:srgbClr val="EA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93522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rFonts a:eastAsia="Malgun Gothic" a:latin="Malgun Gothic"/>
                <a:solidFill>
                  <a:srgbClr val="2ECC71"/>
                </a:solidFill>
                <a:latin typeface="Malgun Gothic"/>
              </a:rPr>
              <a:t>해결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내용어(명사·동사·형용사)만 점수화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03904"/>
            <a:ext cx="5349240" cy="84124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22776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rFonts a:eastAsia="Malgun Gothic" a:latin="Malgun Gothic"/>
                <a:solidFill>
                  <a:srgbClr val="E74C3C"/>
                </a:solidFill>
                <a:latin typeface="Malgun Gothic"/>
              </a:rPr>
              <a:t>문제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"재미없다" 같은 부정 표현을 무시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803904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803904"/>
            <a:ext cx="5074920" cy="841248"/>
          </a:xfrm>
          <a:prstGeom prst="roundRect">
            <a:avLst/>
          </a:prstGeom>
          <a:solidFill>
            <a:srgbClr val="EA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92277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rFonts a:eastAsia="Malgun Gothic" a:latin="Malgun Gothic"/>
                <a:solidFill>
                  <a:srgbClr val="2ECC71"/>
                </a:solidFill>
                <a:latin typeface="Malgun Gothic"/>
              </a:rPr>
              <a:t>해결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부정어 처리 — 앞 단어의 극성을 반전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91456"/>
            <a:ext cx="5349240" cy="841248"/>
          </a:xfrm>
          <a:prstGeom prst="round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1032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rFonts a:eastAsia="Malgun Gothic" a:latin="Malgun Gothic"/>
                <a:solidFill>
                  <a:srgbClr val="E74C3C"/>
                </a:solidFill>
                <a:latin typeface="Malgun Gothic"/>
              </a:rPr>
              <a:t>문제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'재밌다·꿀잼' 등 구어체를 사전이 모름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791456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4791456"/>
            <a:ext cx="5074920" cy="841248"/>
          </a:xfrm>
          <a:prstGeom prst="roundRect">
            <a:avLst/>
          </a:prstGeom>
          <a:solidFill>
            <a:srgbClr val="EA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49103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rFonts a:eastAsia="Malgun Gothic" a:latin="Malgun Gothic"/>
                <a:solidFill>
                  <a:srgbClr val="2ECC71"/>
                </a:solidFill>
                <a:latin typeface="Malgun Gothic"/>
              </a:rPr>
              <a:t>해결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영화 리뷰 구어체 감성어를 직접 보강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문제 해결 과정 ② — 편향 교정과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1704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"여기가 문제라 데이터를 더 모아봤다"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349240" cy="173736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984248"/>
            <a:ext cx="48371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rFonts a:eastAsia="Malgun Gothic" a:latin="Malgun Gothic"/>
                <a:solidFill>
                  <a:srgbClr val="E74C3C"/>
                </a:solidFill>
                <a:latin typeface="Malgun Gothic"/>
              </a:rPr>
              <a:t>주제어·분위기어로 호평이 부정 처리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'가난·죽음·무섭다'가 들어간 호평이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부정으로 오분류 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주제어·분위기어를 점수에서 제외 + 임계값 보정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83080"/>
            <a:ext cx="5349240" cy="173736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1984248"/>
            <a:ext cx="48371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rFonts a:eastAsia="Malgun Gothic" a:latin="Malgun Gothic"/>
                <a:solidFill>
                  <a:srgbClr val="3B82F6"/>
                </a:solidFill>
                <a:latin typeface="Malgun Gothic"/>
              </a:rPr>
              <a:t>데이터를 7만 → 14만으로 2배 증량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"데이터가 부족한가?" 가설 검증을 위해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샘플 30만→60만으로 재학습 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정확도 거의 변화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94760"/>
            <a:ext cx="10972800" cy="1783080"/>
          </a:xfrm>
          <a:prstGeom prst="roundRect">
            <a:avLst/>
          </a:prstGeom>
          <a:solidFill>
            <a:srgbClr val="1B2333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병목은 데이터의 '양'이 아니라 </a:t>
            </a:r>
            <a:r>
              <a:rPr sz="2200" b="1">
                <a:rFonts a:eastAsia="Malgun Gothic" a:latin="Malgun Gothic"/>
                <a:solidFill>
                  <a:srgbClr val="FF3D71"/>
                </a:solidFill>
                <a:latin typeface="Malgun Gothic"/>
              </a:rPr>
              <a:t>라벨의 '품질'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rFonts a:eastAsia="Malgun Gothic" a:latin="Malgun Gothic"/>
                <a:solidFill>
                  <a:srgbClr val="C9D2E0"/>
                </a:solidFill>
                <a:latin typeface="Malgun Gothic"/>
              </a:rPr>
              <a:t>감성사전은 '슬프다·무섭다'가 칭찬인지 비판인지 구분하지 못한다. → 근본 해결책은 코멘트별 실제 별점 라벨.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성능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349240" cy="39319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rFonts a:eastAsia="Malgun Gothic" a:latin="Malgun Gothic"/>
                <a:solidFill>
                  <a:srgbClr val="2ECC71"/>
                </a:solidFill>
                <a:latin typeface="Malgun Gothic"/>
              </a:rPr>
              <a:t>😊  감성 분석 (LSTM)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49377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• 테스트 정확도 </a:t>
            </a:r>
            <a:r>
              <a:rPr sz="135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약 90%</a:t>
            </a:r>
            <a:r>
              <a:rPr sz="135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 (자동 라벨 기준)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• 명확한 문장은 정확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   "시간이 아까움" → 부정 / "최고의 명작" → 긍정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• 한계: 진지한 영화의 호평 일부를 부정으로 오분류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• 확신도 ≠ 정확도 (과신 경향) → 지표에서 제외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83080"/>
            <a:ext cx="5349240" cy="39319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  <a:effectLst>
            <a:outerShdw blurRad="60000" dist="25000" dir="5400000" rotWithShape="0">
              <a:srgbClr val="9AA3B2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rFonts a:eastAsia="Malgun Gothic" a:latin="Malgun Gothic"/>
                <a:solidFill>
                  <a:srgbClr val="3B82F6"/>
                </a:solidFill>
                <a:latin typeface="Malgun Gothic"/>
              </a:rPr>
              <a:t>🎬  영화 추천 (정성 평가)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9748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기생충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설국열차·미키17·마더 (봉준호)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61188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인터스텔라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테넷·인셉션·오펜하이머 (놀란)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52628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어벤져스:엔드게임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rFonts a:eastAsia="Malgun Gothic" a:latin="Malgun Gothic"/>
                <a:solidFill>
                  <a:srgbClr val="222B3A"/>
                </a:solidFill>
                <a:latin typeface="Malgun Gothic"/>
              </a:rPr>
              <a:t>마블 시리즈 (유사도 0.70)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54406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코멘트 단어만으로 감독·시리즈를 정확히 포착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1704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localhost:8501 — 실시간 동작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611880" cy="3017520"/>
          </a:xfrm>
          <a:prstGeom prst="roundRect">
            <a:avLst/>
          </a:prstGeom>
          <a:solidFill>
            <a:srgbClr val="F3F5F9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[ 스크린샷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8348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📊 단어 빈도 분석 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828800"/>
            <a:ext cx="3611880" cy="3017520"/>
          </a:xfrm>
          <a:prstGeom prst="roundRect">
            <a:avLst/>
          </a:prstGeom>
          <a:solidFill>
            <a:srgbClr val="F3F5F9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0175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[ 스크린샷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98348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😊 감성 분석 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828800"/>
            <a:ext cx="3611880" cy="3017520"/>
          </a:xfrm>
          <a:prstGeom prst="roundRect">
            <a:avLst/>
          </a:prstGeom>
          <a:solidFill>
            <a:srgbClr val="F3F5F9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30175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[ 스크린샷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98348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rFonts a:eastAsia="Malgun Gothic" a:latin="Malgun Gothic"/>
                <a:solidFill>
                  <a:srgbClr val="1B2333"/>
                </a:solidFill>
                <a:latin typeface="Malgun Gothic"/>
              </a:rPr>
              <a:t>🎬 영화 추천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※ 발표 시 캡처 이미지를 위 영역에 삽입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118872" cy="566928"/>
          </a:xfrm>
          <a:prstGeom prst="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21792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결론 &amp; 향후 과제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37360"/>
            <a:ext cx="457200" cy="457200"/>
          </a:xfrm>
          <a:prstGeom prst="round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3개의 AI 서비스 완성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rFonts a:eastAsia="Malgun Gothic" a:latin="Malgun Gothic"/>
                <a:solidFill>
                  <a:srgbClr val="C9D2E0"/>
                </a:solidFill>
                <a:latin typeface="Malgun Gothic"/>
              </a:rPr>
              <a:t>단어 빈도 · 감성 분석(LSTM) · 영화 추천(TF-IDF)을 하나의 대시보드로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88920"/>
            <a:ext cx="457200" cy="457200"/>
          </a:xfrm>
          <a:prstGeom prst="round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43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문제를 단계적으로 진단·해결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rFonts a:eastAsia="Malgun Gothic" a:latin="Malgun Gothic"/>
                <a:solidFill>
                  <a:srgbClr val="C9D2E0"/>
                </a:solidFill>
                <a:latin typeface="Malgun Gothic"/>
              </a:rPr>
              <a:t>라벨링 오류를 사전·내용어·부정어·구어체 처리로 차례로 교정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40480"/>
            <a:ext cx="457200" cy="457200"/>
          </a:xfrm>
          <a:prstGeom prst="round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94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한계를 실험으로 규명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rFonts a:eastAsia="Malgun Gothic" a:latin="Malgun Gothic"/>
                <a:solidFill>
                  <a:srgbClr val="C9D2E0"/>
                </a:solidFill>
                <a:latin typeface="Malgun Gothic"/>
              </a:rPr>
              <a:t>데이터 2배 실험 → 병목은 '양'이 아니라 '라벨 품질'임을 입증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92040"/>
            <a:ext cx="457200" cy="457200"/>
          </a:xfrm>
          <a:prstGeom prst="roundRect">
            <a:avLst/>
          </a:prstGeom>
          <a:solidFill>
            <a:srgbClr val="FF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846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rFonts a:eastAsia="Malgun Gothic" a:latin="Malgun Gothic"/>
                <a:solidFill>
                  <a:srgbClr val="FFFFFF"/>
                </a:solidFill>
                <a:latin typeface="Malgun Gothic"/>
              </a:rPr>
              <a:t>향후: 실제 별점 라벨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rFonts a:eastAsia="Malgun Gothic" a:latin="Malgun Gothic"/>
                <a:solidFill>
                  <a:srgbClr val="C9D2E0"/>
                </a:solidFill>
                <a:latin typeface="Malgun Gothic"/>
              </a:rPr>
              <a:t>코멘트별 별점으로 라벨링하면 정확도를 근본적으로 끌어올릴 수 있음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rFonts a:eastAsia="Malgun Gothic" a:latin="Malgun Gothic"/>
                <a:solidFill>
                  <a:srgbClr val="6B7280"/>
                </a:solidFill>
                <a:latin typeface="Malgun Gothic"/>
              </a:rPr>
              <a:t>개발: Claude Code(AI)와 협업하여 데이터 처리·모델 학습·대시보드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